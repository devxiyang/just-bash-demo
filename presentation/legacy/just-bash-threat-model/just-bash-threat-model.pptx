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f5eac390804efd" /><Relationship Type="http://schemas.openxmlformats.org/officeDocument/2006/relationships/extended-properties" Target="/docProps/app.xml" Id="R0b8bc22928ba403e" /><Relationship Type="http://schemas.openxmlformats.org/officeDocument/2006/relationships/officeDocument" Target="/ppt/presentation.xml" Id="Rcb04d5a896244a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5d447568264b06"/>
  </p:sldMasterIdLst>
  <p:notesMasterIdLst>
    <p:notesMasterId xmlns:r="http://schemas.openxmlformats.org/officeDocument/2006/relationships" r:id="R19ce480f9ee04404"/>
  </p:notesMasterIdLst>
  <p:sldIdLst>
    <p:sldId xmlns:r="http://schemas.openxmlformats.org/officeDocument/2006/relationships" id="256" r:id="R544a4a152b7145bd"/>
    <p:sldId xmlns:r="http://schemas.openxmlformats.org/officeDocument/2006/relationships" id="257" r:id="R83ae852bbce942a3"/>
    <p:sldId xmlns:r="http://schemas.openxmlformats.org/officeDocument/2006/relationships" id="258" r:id="R8da6304c45234239"/>
    <p:sldId xmlns:r="http://schemas.openxmlformats.org/officeDocument/2006/relationships" id="259" r:id="R65caa8e3f3d64ae4"/>
    <p:sldId xmlns:r="http://schemas.openxmlformats.org/officeDocument/2006/relationships" id="260" r:id="R95472b80751a4ca1"/>
    <p:sldId xmlns:r="http://schemas.openxmlformats.org/officeDocument/2006/relationships" id="261" r:id="Rf3cd49900489463b"/>
    <p:sldId xmlns:r="http://schemas.openxmlformats.org/officeDocument/2006/relationships" id="262" r:id="R692621479f76467b"/>
    <p:sldId xmlns:r="http://schemas.openxmlformats.org/officeDocument/2006/relationships" id="263" r:id="R8fda550ea0f7444b"/>
    <p:sldId xmlns:r="http://schemas.openxmlformats.org/officeDocument/2006/relationships" id="264" r:id="R089da008b3654376"/>
    <p:sldId xmlns:r="http://schemas.openxmlformats.org/officeDocument/2006/relationships" id="265" r:id="Rd22bbcaaf94d497b"/>
    <p:sldId xmlns:r="http://schemas.openxmlformats.org/officeDocument/2006/relationships" id="266" r:id="R7215d358ab7643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d447568264b06" /><Relationship Type="http://schemas.openxmlformats.org/officeDocument/2006/relationships/theme" Target="/ppt/theme/theme1.xml" Id="Rda11850a0e3a4fd0" /><Relationship Type="http://schemas.openxmlformats.org/officeDocument/2006/relationships/notesMaster" Target="/ppt/notesMasters/notesMaster1.xml" Id="R19ce480f9ee04404" /><Relationship Type="http://schemas.openxmlformats.org/officeDocument/2006/relationships/presProps" Target="/ppt/presProps.xml" Id="R2cc3330df9ad490d" /><Relationship Type="http://schemas.openxmlformats.org/officeDocument/2006/relationships/viewProps" Target="/ppt/viewProps.xml" Id="R00d948e1675e4ba2" /><Relationship Type="http://schemas.openxmlformats.org/officeDocument/2006/relationships/tableStyles" Target="/ppt/tableStyles.xml" Id="Rdb9713224df347ad" /><Relationship Type="http://schemas.openxmlformats.org/officeDocument/2006/relationships/slide" Target="/ppt/slides/slide1.xml" Id="R544a4a152b7145bd" /><Relationship Type="http://schemas.openxmlformats.org/officeDocument/2006/relationships/slide" Target="/ppt/slides/slide2.xml" Id="R83ae852bbce942a3" /><Relationship Type="http://schemas.openxmlformats.org/officeDocument/2006/relationships/slide" Target="/ppt/slides/slide3.xml" Id="R8da6304c45234239" /><Relationship Type="http://schemas.openxmlformats.org/officeDocument/2006/relationships/slide" Target="/ppt/slides/slide4.xml" Id="R65caa8e3f3d64ae4" /><Relationship Type="http://schemas.openxmlformats.org/officeDocument/2006/relationships/slide" Target="/ppt/slides/slide5.xml" Id="R95472b80751a4ca1" /><Relationship Type="http://schemas.openxmlformats.org/officeDocument/2006/relationships/slide" Target="/ppt/slides/slide6.xml" Id="Rf3cd49900489463b" /><Relationship Type="http://schemas.openxmlformats.org/officeDocument/2006/relationships/slide" Target="/ppt/slides/slide7.xml" Id="R692621479f76467b" /><Relationship Type="http://schemas.openxmlformats.org/officeDocument/2006/relationships/slide" Target="/ppt/slides/slide8.xml" Id="R8fda550ea0f7444b" /><Relationship Type="http://schemas.openxmlformats.org/officeDocument/2006/relationships/slide" Target="/ppt/slides/slide9.xml" Id="R089da008b3654376" /><Relationship Type="http://schemas.openxmlformats.org/officeDocument/2006/relationships/slide" Target="/ppt/slides/slide10.xml" Id="Rd22bbcaaf94d497b" /><Relationship Type="http://schemas.openxmlformats.org/officeDocument/2006/relationships/slide" Target="/ppt/slides/slide11.xml" Id="R7215d358ab7643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d9511c18d0e42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just-bash dark">
  <a:themeElements>
    <a:clrScheme name="just-bash dark">
      <a:accent1>
        <a:srgbClr val="34D3FF"/>
      </a:accent1>
      <a:accent2>
        <a:srgbClr val="F6B44B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ust-bash 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24d07ec3884de6" /><Relationship Type="http://schemas.openxmlformats.org/officeDocument/2006/relationships/notesMaster" Target="/ppt/notesMasters/notesMaster1.xml" Id="R7065e26a600f4e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e55a5b839641e6" /><Relationship Type="http://schemas.openxmlformats.org/officeDocument/2006/relationships/notesMaster" Target="/ppt/notesMasters/notesMaster1.xml" Id="Rc673bff5ae7243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0fd27cdf6e4795" /><Relationship Type="http://schemas.openxmlformats.org/officeDocument/2006/relationships/notesMaster" Target="/ppt/notesMasters/notesMaster1.xml" Id="R062ca356ac224d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e1b53025554112" /><Relationship Type="http://schemas.openxmlformats.org/officeDocument/2006/relationships/notesMaster" Target="/ppt/notesMasters/notesMaster1.xml" Id="R7489f89da6c343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f9e8fc5df24e40" /><Relationship Type="http://schemas.openxmlformats.org/officeDocument/2006/relationships/notesMaster" Target="/ppt/notesMasters/notesMaster1.xml" Id="Rd442c18d91d343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799ecc0e5045c8" /><Relationship Type="http://schemas.openxmlformats.org/officeDocument/2006/relationships/notesMaster" Target="/ppt/notesMasters/notesMaster1.xml" Id="R3378e1677cd64d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693542b65747f1" /><Relationship Type="http://schemas.openxmlformats.org/officeDocument/2006/relationships/notesMaster" Target="/ppt/notesMasters/notesMaster1.xml" Id="Rad35ab03e2054a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4ddd7f94dd4163" /><Relationship Type="http://schemas.openxmlformats.org/officeDocument/2006/relationships/notesMaster" Target="/ppt/notesMasters/notesMaster1.xml" Id="R65f6fd95328441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a4160bb9374bf5" /><Relationship Type="http://schemas.openxmlformats.org/officeDocument/2006/relationships/notesMaster" Target="/ppt/notesMasters/notesMaster1.xml" Id="R48ca16d69a7b45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6d0e7729a947d5" /><Relationship Type="http://schemas.openxmlformats.org/officeDocument/2006/relationships/notesMaster" Target="/ppt/notesMasters/notesMaster1.xml" Id="R8c9eaa37e6e64b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dc197783374fad" /><Relationship Type="http://schemas.openxmlformats.org/officeDocument/2006/relationships/notesMaster" Target="/ppt/notesMasters/notesMaster1.xml" Id="Rbf15b71a29b844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just-bash is not trying to be a full VM. It gives agents the familiar bash/filesystem interface, then constrains and instruments that interface so it can be used safely.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just-bash README: https://github.com/vercel-labs/just-bash</a:t>
            </a:r>
          </a:p>
          <a:p xmlns:a="http://schemas.openxmlformats.org/drawingml/2006/main">
            <a:r>
              <a:t>- just-bash THREAT_MODEL.md: https://github.com/vercel-labs/just-bash/blob/main/THREAT_MODEL.md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product tradeoff: models benefit from a broad, composable interface. The security work is to keep the interface useful while constraining what it can actually touch.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just-bash README: https://github.com/vercel-labs/just-bash</a:t>
            </a:r>
          </a:p>
          <a:p xmlns:a="http://schemas.openxmlformats.org/drawingml/2006/main">
            <a:r>
              <a:t>- Vercel blog: https://vercel.com/blog/how-to-build-agents-with-filesystems-and-bash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threat model is explicit about trusted vs untrusted components. The host-provided fs/fetch/custom commands/plugins are trusted hooks; if the host is malicious, just-bash cannot sandbox the host from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just-bash THREAT_MODEL.md: https://github.com/vercel-labs/just-bash/blob/main/THREAT_MODEL.md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important presentation point: the threat model is unusually explicit that the script is zero-trust. This makes sense because agent output is the primary input to the shell.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just-bash THREAT_MODEL.md: https://github.com/vercel-labs/just-bash/blob/main/THREAT_MODEL.md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slow down: trust boundaries are more important than the long attack inventory. They explain why the defenses are shaped the way they 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just-bash THREAT_MODEL.md: https://github.com/vercel-labs/just-bash/blob/main/THREAT_MODEL.md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threat model's attack surface inventory is valuable because it is concrete: it names both the vector and the file where the defense lives. Present this as an engineering checklist, not a theoretical taxonomy.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just-bash THREAT_MODEL.md: https://github.com/vercel-labs/just-bash/blob/main/THREAT_MODEL.md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hierarchy: defense-in-depth is useful, but the primary safety property is no intended path from bash interpretation to host JS execution or host resources.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just-bash THREAT_MODEL.md: https://github.com/vercel-labs/just-bash/blob/main/THREAT_MODEL.md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be presented as the payoff of the threat model. If a model cannot produce scenario verdicts, it is not operational enough.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just-bash THREAT_MODEL.md: https://github.com/vercel-labs/just-bash/blob/main/THREAT_MODEL.md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keep the presentation credible. just-bash is beta software and the README says to use at your own risk. The threat model is strong because it names residual risk clearly.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just-bash THREAT_MODEL.md: https://github.com/vercel-labs/just-bash/blob/main/THREAT_MODEL.md</a:t>
            </a:r>
          </a:p>
          <a:p xmlns:a="http://schemas.openxmlformats.org/drawingml/2006/main">
            <a:r>
              <a:t>- just-bash README: https://github.com/vercel-labs/just-bash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Convert the threat model into practical advice. The most important operational idea is least privilege: turn on capabilities only when the agent actually needs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just-bash README: https://github.com/vercel-labs/just-bash</a:t>
            </a:r>
          </a:p>
          <a:p xmlns:a="http://schemas.openxmlformats.org/drawingml/2006/main">
            <a:r>
              <a:t>- just-bash THREAT_MODEL.md: https://github.com/vercel-labs/just-bash/blob/main/THREAT_MODEL.md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tying it back to harness engineering: the shell is the actuator, but the threat model determines how that actuator is bounded, observed, and made safe enough for agentic workflows.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just-bash THREAT_MODEL.md: https://github.com/vercel-labs/just-bash/blob/main/THREAT_MODEL.md</a:t>
            </a:r>
          </a:p>
          <a:p xmlns:a="http://schemas.openxmlformats.org/drawingml/2006/main">
            <a:r>
              <a:t>- just-bash README: https://github.com/vercel-labs/just-bash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b2f9fc633445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FC10353-2CBB-4BD6-B880-80BCDB92D6E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64F1C0B-D22A-4941-B9B9-BB182855A73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A44837-7147-402B-AB61-BFA7975D67F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6721A8-8829-4CE9-8327-AA4CB6A581E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4ff59094ad84501" /><Relationship Type="http://schemas.openxmlformats.org/officeDocument/2006/relationships/slideLayout" Target="/ppt/slideLayouts/slideLayout2.xml" Id="R1eaeabd2b36f49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A09B21-D2EE-4852-AA24-59A5AB0F0FA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aeabd2b36f49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1e28c319c4409a" /><Relationship Type="http://schemas.openxmlformats.org/officeDocument/2006/relationships/notesSlide" Target="/ppt/notesSlides/notesSlide1.xml" Id="R2f8eb01985e349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3dbd99309a40e1" /><Relationship Type="http://schemas.openxmlformats.org/officeDocument/2006/relationships/notesSlide" Target="/ppt/notesSlides/notesSlide2.xml" Id="R0b6ad4c12cc248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20cfa9138d44c4" /><Relationship Type="http://schemas.openxmlformats.org/officeDocument/2006/relationships/notesSlide" Target="/ppt/notesSlides/notesSlide3.xml" Id="Rd30226e9bf3045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a6d57f364f4960" /><Relationship Type="http://schemas.openxmlformats.org/officeDocument/2006/relationships/notesSlide" Target="/ppt/notesSlides/notesSlide4.xml" Id="R972db14fb42442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ce882812414335" /><Relationship Type="http://schemas.openxmlformats.org/officeDocument/2006/relationships/notesSlide" Target="/ppt/notesSlides/notesSlide5.xml" Id="Rfcf4e34dca114a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f0e826b31482b" /><Relationship Type="http://schemas.openxmlformats.org/officeDocument/2006/relationships/notesSlide" Target="/ppt/notesSlides/notesSlide6.xml" Id="R4607f3197d3a4f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914e67bd9b4bef" /><Relationship Type="http://schemas.openxmlformats.org/officeDocument/2006/relationships/notesSlide" Target="/ppt/notesSlides/notesSlide7.xml" Id="R4b13f9becff548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5cb0ed72a142f0" /><Relationship Type="http://schemas.openxmlformats.org/officeDocument/2006/relationships/notesSlide" Target="/ppt/notesSlides/notesSlide8.xml" Id="Racefeedd66c94c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5e87303fe2458b" /><Relationship Type="http://schemas.openxmlformats.org/officeDocument/2006/relationships/notesSlide" Target="/ppt/notesSlides/notesSlide9.xml" Id="R2391e346b74d40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671e5b52db4f7a" /><Relationship Type="http://schemas.openxmlformats.org/officeDocument/2006/relationships/notesSlide" Target="/ppt/notesSlides/notesSlide10.xml" Id="R63468e1d958f4a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4f7c6d5ed1487e" /><Relationship Type="http://schemas.openxmlformats.org/officeDocument/2006/relationships/notesSlide" Target="/ppt/notesSlides/notesSlide11.xml" Id="R96d722ffbf544e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1A4F6-8BA1-4A27-A415-EFB08DC3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190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A8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F82F4-9733-49C8-9A55-048430EB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929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21011-3116-4820-BBA6-8D8AF92C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953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75348-BB6E-46C6-B50F-2F1737E9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81727"/>
          </a:solidFill>
          <a:ln xmlns:a="http://schemas.openxmlformats.org/drawingml/2006/main" w="12383">
            <a:solidFill>
              <a:srgbClr val="27476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38E95-F6B4-4589-95C3-E92674C6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B89B2-B537-4548-8A99-28436B03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A1C95-6AC9-4857-B7A4-F7D4CCCA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D8AFA-4A86-4A9D-BE71-3D51C72D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E3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64BE1-2874-43BE-85F3-3287A966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43050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C1CF"/>
                </a:solidFill>
              </a:defRPr>
            </a:pPr>
            <a:r>
              <a:rPr sz="825" b="0">
                <a:solidFill>
                  <a:srgbClr val="AFC1CF"/>
                </a:solidFill>
              </a:rPr>
              <a:t>agent action 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56C0D-DD7E-495D-9D2B-A62F737C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3905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E3A4"/>
                </a:solidFill>
              </a:defRPr>
            </a:pPr>
            <a:r>
              <a:rPr sz="1500" b="0">
                <a:solidFill>
                  <a:srgbClr val="4FE3A4"/>
                </a:solidFill>
              </a:rPr>
              <a:t>$ grep -r TODO src | head</a:t>
            </a:r>
          </a:p>
          <a:p xmlns:a="http://schemas.openxmlformats.org/drawingml/2006/main">
            <a:pPr algn="l">
              <a:defRPr sz="1500" b="0">
                <a:solidFill>
                  <a:srgbClr val="4FE3A4"/>
                </a:solidFill>
              </a:defRPr>
            </a:pPr>
            <a:r>
              <a:rPr sz="1500" b="0">
                <a:solidFill>
                  <a:srgbClr val="4FE3A4"/>
                </a:solidFill>
              </a:rPr>
              <a:t>$ cat package.json</a:t>
            </a:r>
          </a:p>
          <a:p xmlns:a="http://schemas.openxmlformats.org/drawingml/2006/main">
            <a:pPr algn="l">
              <a:defRPr sz="1500" b="0">
                <a:solidFill>
                  <a:srgbClr val="4FE3A4"/>
                </a:solidFill>
              </a:defRPr>
            </a:pPr>
            <a:r>
              <a:rPr sz="1500" b="0">
                <a:solidFill>
                  <a:srgbClr val="4FE3A4"/>
                </a:solidFill>
              </a:rPr>
              <a:t>$ sqlite3 data.db 'select count(*) from events'</a:t>
            </a:r>
          </a:p>
          <a:p xmlns:a="http://schemas.openxmlformats.org/drawingml/2006/main">
            <a:pPr algn="l">
              <a:defRPr sz="1500" b="0">
                <a:solidFill>
                  <a:srgbClr val="4FE3A4"/>
                </a:solidFill>
              </a:defRPr>
            </a:pPr>
            <a:r>
              <a:rPr sz="1500" b="0">
                <a:solidFill>
                  <a:srgbClr val="4FE3A4"/>
                </a:solidFill>
              </a:rPr>
              <a:t>$ curl -s https://api.example.com | jq 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41A67-D286-4D5D-8140-8EDDE35F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504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7FA"/>
                </a:solidFill>
              </a:defRPr>
            </a:pPr>
            <a:r>
              <a:rPr sz="4050" b="1">
                <a:solidFill>
                  <a:srgbClr val="F4F7FA"/>
                </a:solidFill>
              </a:rPr>
              <a:t>just-bash</a:t>
            </a:r>
          </a:p>
          <a:p xmlns:a="http://schemas.openxmlformats.org/drawingml/2006/main">
            <a:pPr algn="l">
              <a:defRPr sz="4050" b="1">
                <a:solidFill>
                  <a:srgbClr val="F4F7FA"/>
                </a:solidFill>
              </a:defRPr>
            </a:pPr>
            <a:r>
              <a:rPr sz="4050" b="1">
                <a:solidFill>
                  <a:srgbClr val="F4F7FA"/>
                </a:solidFill>
              </a:rPr>
              <a:t>Threat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94051-AB15-4729-94DF-69EFE9C4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1CF"/>
                </a:solidFill>
              </a:defRPr>
            </a:pPr>
            <a:r>
              <a:rPr sz="1650" b="0">
                <a:solidFill>
                  <a:srgbClr val="AFC1CF"/>
                </a:solidFill>
              </a:rPr>
              <a:t>给 AI agent 一个熟悉、可控、可观测的 shell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1B928-7B79-42E0-B647-42EA7F62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FF">
              <a:alpha val="14902"/>
            </a:srgbClr>
          </a:solidFill>
          <a:ln xmlns:a="http://schemas.openxmlformats.org/drawingml/2006/main" w="11430">
            <a:solidFill>
              <a:srgbClr val="34D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BA0AE-C1CC-4B58-9EED-70A52B73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D3FF"/>
                </a:solidFill>
              </a:defRPr>
            </a:pPr>
            <a:r>
              <a:rPr sz="900" b="1">
                <a:solidFill>
                  <a:srgbClr val="34D3FF"/>
                </a:solidFill>
              </a:rPr>
              <a:t>TypeScript bash interpreter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71CA5-2E70-4982-BE71-CB45743F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90900"/>
            <a:ext cx="2286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6B44B">
              <a:alpha val="14902"/>
            </a:srgbClr>
          </a:solidFill>
          <a:ln xmlns:a="http://schemas.openxmlformats.org/drawingml/2006/main" w="11430">
            <a:solidFill>
              <a:srgbClr val="F6B4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A5843-29FE-472C-AC56-64B32FC3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575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44B"/>
                </a:solidFill>
              </a:defRPr>
            </a:pPr>
            <a:r>
              <a:rPr sz="900" b="1">
                <a:solidFill>
                  <a:srgbClr val="F6B44B"/>
                </a:solidFill>
              </a:rPr>
              <a:t>In-memory / Overlay 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C58CC-29FB-4345-BCBE-46665E07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E3A4">
              <a:alpha val="14902"/>
            </a:srgbClr>
          </a:solidFill>
          <a:ln xmlns:a="http://schemas.openxmlformats.org/drawingml/2006/main" w="11430">
            <a:solidFill>
              <a:srgbClr val="4FE3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54A5F-B524-4216-8E60-B685535F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E3A4"/>
                </a:solidFill>
              </a:defRPr>
            </a:pPr>
            <a:r>
              <a:rPr sz="900" b="1">
                <a:solidFill>
                  <a:srgbClr val="4FE3A4"/>
                </a:solidFill>
              </a:rPr>
              <a:t>Designed for AI agents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70307-2135-468B-A469-97E3BBC9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79A"/>
                </a:solidFill>
              </a:defRPr>
            </a:pPr>
            <a:r>
              <a:rPr sz="750" b="0">
                <a:solidFill>
                  <a:srgbClr val="6F879A"/>
                </a:solidFill>
              </a:rPr>
              <a:t>just-bash threat model · 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A4C15F-A575-4470-9085-C3E2F338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159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54325-B1F0-4730-AEC1-99413D3B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190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A8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A28FC-9687-4566-8687-4A1692C2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929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5A7B3-B8E9-46E0-9C6C-AAAA7D2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953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5C341-92EC-4252-B59A-048940E3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FF"/>
                </a:solidFill>
              </a:defRPr>
            </a:pPr>
            <a:r>
              <a:rPr sz="900" b="1">
                <a:solidFill>
                  <a:srgbClr val="34D3FF"/>
                </a:solidFill>
              </a:rPr>
              <a:t>WHY IT EXISTS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DD9C5-32F9-4997-9B91-28A425C9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A"/>
                </a:solidFill>
              </a:defRPr>
            </a:pPr>
            <a:r>
              <a:rPr sz="2850" b="1">
                <a:solidFill>
                  <a:srgbClr val="F4F7FA"/>
                </a:solidFill>
              </a:rPr>
              <a:t>Agent 需要 shell，但不能直接给真实 bash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4546F-9979-45C1-87B1-77016C46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核心问题不是“bash 强不强”，而是 action space 是否可控。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7050C-B39C-4484-B887-BFBAE92D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B3827-C16C-4187-8644-8BE87581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EDE9C-C299-4FCF-9B0B-48457705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FF"/>
                </a:solidFill>
              </a:defRPr>
            </a:pPr>
            <a:r>
              <a:rPr sz="1125" b="1">
                <a:solidFill>
                  <a:srgbClr val="34D3FF"/>
                </a:solidFill>
              </a:rPr>
              <a:t>为什么给 bash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23F71-B046-4680-A07D-426CEE76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724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</a:defRPr>
            </a:pPr>
            <a:r>
              <a:rPr sz="1350" b="0">
                <a:solidFill>
                  <a:srgbClr val="F4F7FA"/>
                </a:solidFill>
              </a:rPr>
              <a:t>模型已经熟悉文件、grep、管道、重定向、脚本组合；bash 是低摩擦的通用动作语言。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C8F65-79DE-4AB1-9483-68B0EF15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743A0-8E8C-44E6-AB52-A1EBC30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04B64-18DC-424C-9DEC-F4F468EB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527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6B"/>
                </a:solidFill>
              </a:defRPr>
            </a:pPr>
            <a:r>
              <a:rPr sz="1125" b="1">
                <a:solidFill>
                  <a:srgbClr val="FF6B6B"/>
                </a:solidFill>
              </a:rPr>
              <a:t>为什么不能给真 bash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45909-0724-46E8-8EBA-717AA968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14650"/>
            <a:ext cx="2724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</a:defRPr>
            </a:pPr>
            <a:r>
              <a:rPr sz="1350" b="0">
                <a:solidFill>
                  <a:srgbClr val="F4F7FA"/>
                </a:solidFill>
              </a:rPr>
              <a:t>真实 shell 可以读 host 文件、跑二进制、访问网络、消耗资源、泄露 secrets。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82E1A-F8CA-483E-B76B-372A27F2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1271E-E869-4A46-AB61-AADBE833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E3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AA488-4DDF-4DB7-9E3C-6599A2DA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E3A4"/>
                </a:solidFill>
              </a:defRPr>
            </a:pPr>
            <a:r>
              <a:rPr sz="1125" b="1">
                <a:solidFill>
                  <a:srgbClr val="4FE3A4"/>
                </a:solidFill>
              </a:rPr>
              <a:t>just-bash 的折中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69153-E460-4185-B636-63CF6432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2724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A"/>
                </a:solidFill>
              </a:defRPr>
            </a:pPr>
            <a:r>
              <a:rPr sz="1350" b="0">
                <a:solidFill>
                  <a:srgbClr val="F4F7FA"/>
                </a:solidFill>
              </a:rPr>
              <a:t>保留 shell 交互形态，但把文件系统、命令、网络、运行时都放进可审计边界。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B33C0-D364-420A-B56F-EDF57D50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79A"/>
                </a:solidFill>
              </a:defRPr>
            </a:pPr>
            <a:r>
              <a:rPr sz="750" b="0">
                <a:solidFill>
                  <a:srgbClr val="6F879A"/>
                </a:solidFill>
              </a:rPr>
              <a:t>just-bash threat model · 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6D361-D8E0-46F2-936D-82CDFF03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5362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A249F-F9D2-469C-A9E3-111455A4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190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A8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5F473-756D-4813-A008-F8169424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929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51182-1E6B-421F-A375-D6960407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953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EA909-CBC3-479B-BC21-A1DDB848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FF"/>
                </a:solidFill>
              </a:defRPr>
            </a:pPr>
            <a:r>
              <a:rPr sz="900" b="1">
                <a:solidFill>
                  <a:srgbClr val="34D3FF"/>
                </a:solidFill>
              </a:rPr>
              <a:t>SYSTEM SHAPE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384B9-7456-406C-BB49-121649A3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A"/>
                </a:solidFill>
              </a:defRPr>
            </a:pPr>
            <a:r>
              <a:rPr sz="2850" b="1">
                <a:solidFill>
                  <a:srgbClr val="F4F7FA"/>
                </a:solidFill>
              </a:rPr>
              <a:t>安全边界：host 进程里的一层 sandbox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81154-D938-4BF8-889E-54E29B1E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它保护 host 不受 untrusted scripts 影响；不保护你免受 malicious host hook 影响。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021F7-A46B-40A1-BCAC-70B762D9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2034"/>
          </a:solidFill>
          <a:ln xmlns:a="http://schemas.openxmlformats.org/drawingml/2006/main" w="13335">
            <a:solidFill>
              <a:srgbClr val="2747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23ABD-10DE-49C7-9B7F-CF510DF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362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CF"/>
                </a:solidFill>
              </a:defRPr>
            </a:pPr>
            <a:r>
              <a:rPr sz="1125" b="1">
                <a:solidFill>
                  <a:srgbClr val="AFC1CF"/>
                </a:solidFill>
              </a:rPr>
              <a:t>HOST PROCESS (Node.js)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77311-4BB6-467A-A33D-4E50EE76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7429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C45"/>
          </a:solidFill>
          <a:ln xmlns:a="http://schemas.openxmlformats.org/drawingml/2006/main" w="19050">
            <a:solidFill>
              <a:srgbClr val="34D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39A52-29D5-4CF5-A41B-73D7BBA8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765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D3FF"/>
                </a:solidFill>
              </a:defRPr>
            </a:pPr>
            <a:r>
              <a:rPr sz="1275" b="1">
                <a:solidFill>
                  <a:srgbClr val="34D3FF"/>
                </a:solidFill>
              </a:rPr>
              <a:t>JUST-BASH SANDBOX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A9D75-9588-4688-97E4-3CA96F62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6235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5674F-8594-4D4E-BCD3-ED229985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623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A"/>
                </a:solidFill>
              </a:defRPr>
            </a:pPr>
            <a:r>
              <a:rPr sz="1200" b="1">
                <a:solidFill>
                  <a:srgbClr val="F4F7FA"/>
                </a:solidFill>
              </a:rPr>
              <a:t>Parser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3C6F7-2B47-4E3C-B2E1-1D6EFFA1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6235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F7E73-BBF8-42E6-B092-7AF014B4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623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A"/>
                </a:solidFill>
              </a:defRPr>
            </a:pPr>
            <a:r>
              <a:rPr sz="1200" b="1">
                <a:solidFill>
                  <a:srgbClr val="F4F7FA"/>
                </a:solidFill>
              </a:rPr>
              <a:t>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46D2C-D7D8-40FC-9A97-29CFB4B1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09393-8153-4C2D-8443-F7485983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623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A"/>
                </a:solidFill>
              </a:defRPr>
            </a:pPr>
            <a:r>
              <a:rPr sz="1200" b="1">
                <a:solidFill>
                  <a:srgbClr val="F4F7FA"/>
                </a:solidFill>
              </a:rPr>
              <a:t>Interpreter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2F00A-2388-43A1-8624-293F0F94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6235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2F301-E0F5-4C8A-B70D-1ACD6ABB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623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A"/>
                </a:solidFill>
              </a:defRPr>
            </a:pPr>
            <a:r>
              <a:rPr sz="1200" b="1">
                <a:solidFill>
                  <a:srgbClr val="F4F7FA"/>
                </a:solidFill>
              </a:rPr>
              <a:t>Commands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105739-8F90-4F3D-A37D-394D1781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338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D3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2E5A6-9A7B-426A-B7BE-5328F458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338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D3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A9EC5-A274-4ABC-BFE7-E7DEC3B8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338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D3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7E64F-0980-402D-9D88-817FEAC7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DC7FA-AE30-415D-8BC1-A4BF1C69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0D8BD-638B-4EB8-8CC0-61843A4D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6B"/>
                </a:solidFill>
              </a:defRPr>
            </a:pPr>
            <a:r>
              <a:rPr sz="1125" b="1">
                <a:solidFill>
                  <a:srgbClr val="FF6B6B"/>
                </a:solidFill>
              </a:rPr>
              <a:t>外部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BBBEB-6933-4F95-8BF5-40D99192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33950"/>
            <a:ext cx="2057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脚本输入 / 数据源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2EB7E-71B3-4FE2-B18E-3301760B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005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99A1D3-54E8-47E6-870C-5DA842C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005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C30892-FB7A-46E9-8A2B-25EE68A5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B44B"/>
                </a:solidFill>
              </a:defRPr>
            </a:pPr>
            <a:r>
              <a:rPr sz="1125" b="1">
                <a:solidFill>
                  <a:srgbClr val="F6B44B"/>
                </a:solidFill>
              </a:rPr>
              <a:t>host 资源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9C1190-D548-43C0-9041-8480F027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33950"/>
            <a:ext cx="25336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真实文件、env、网络、child_process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E070E9-0B45-488B-B061-E9BE78C7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B44B"/>
                </a:solidFill>
              </a:defRPr>
            </a:pPr>
            <a:r>
              <a:rPr sz="1350" b="1">
                <a:solidFill>
                  <a:srgbClr val="F6B44B"/>
                </a:solidFill>
              </a:rPr>
              <a:t>Trust 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7193F0-79F8-4833-BF98-E573CD91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79A"/>
                </a:solidFill>
              </a:defRPr>
            </a:pPr>
            <a:r>
              <a:rPr sz="750" b="0">
                <a:solidFill>
                  <a:srgbClr val="6F879A"/>
                </a:solidFill>
              </a:rPr>
              <a:t>just-bash threat model · 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164078-ADA7-4DA0-B4A2-E717C9C8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6848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717AD-ABB9-4878-8C30-8E0AB40D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190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A8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28B1E-A504-4AE8-9A49-3D97BB4D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929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62E00-F6B1-42EE-8CF4-93C6C2DB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953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3818E-578D-4C6B-BD80-ECC2691A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FF"/>
                </a:solidFill>
              </a:defRPr>
            </a:pPr>
            <a:r>
              <a:rPr sz="900" b="1">
                <a:solidFill>
                  <a:srgbClr val="34D3FF"/>
                </a:solidFill>
              </a:rPr>
              <a:t>THREAT ACTORS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0C771-563C-45FC-BFDA-2E8E7B93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A"/>
                </a:solidFill>
              </a:defRPr>
            </a:pPr>
            <a:r>
              <a:rPr sz="2850" b="1">
                <a:solidFill>
                  <a:srgbClr val="F4F7FA"/>
                </a:solidFill>
              </a:rPr>
              <a:t>首要 adversary 是脚本作者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27603-FD0B-4763-8EB0-7C19525F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把 AI agent 当成会提交任意 bash 的不可信用户。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074E5-BBE6-4EF2-9B3A-6BF6D0B7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333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C3622-E1A0-4B83-A1E3-BFD8A834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57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336E2-F863-4063-956B-CF3EB66B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6B"/>
                </a:solidFill>
              </a:defRPr>
            </a:pPr>
            <a:r>
              <a:rPr sz="1125" b="1">
                <a:solidFill>
                  <a:srgbClr val="FF6B6B"/>
                </a:solidFill>
              </a:rPr>
              <a:t>1A · Untrusted Script Author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95AD6-6679-4119-B613-07C14962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9146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Who: AI agent 或用户提交任意 bash</a:t>
            </a:r>
          </a:p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Capability: 完全控制脚本输入</a:t>
            </a:r>
          </a:p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Goal: sandbox escape、读 host FS、泄露 secrets、DoS、提权</a:t>
            </a:r>
          </a:p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Trust: ZERO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0CE13-DB7C-48FD-82E9-EB07271E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3333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326DF-1ABA-461F-99F3-B18A3C28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57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8E050-CE41-4EFB-AAD4-B5B3555B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09825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B44B"/>
                </a:solidFill>
              </a:defRPr>
            </a:pPr>
            <a:r>
              <a:rPr sz="1125" b="1">
                <a:solidFill>
                  <a:srgbClr val="F6B44B"/>
                </a:solidFill>
              </a:rPr>
              <a:t>1B · Malicious Data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044E3-F2DD-41C5-96EA-82612BBA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71775"/>
            <a:ext cx="29146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Who: HTTP 响应、文件内容、stdin</a:t>
            </a:r>
          </a:p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Capability: 控制 expansion、变量、参数里的数据</a:t>
            </a:r>
          </a:p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Goal: prototype pollution、IFS 注入、path traversal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1211B-81F0-434C-A7F2-5586476B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3333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12D18-6958-4632-958D-87E32338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57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0878A-8710-4156-A6F6-2C37D819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9825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FF"/>
                </a:solidFill>
              </a:defRPr>
            </a:pPr>
            <a:r>
              <a:rPr sz="1125" b="1">
                <a:solidFill>
                  <a:srgbClr val="34D3FF"/>
                </a:solidFill>
              </a:rPr>
              <a:t>1C · Compromised Dependency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C77A5-2867-46A3-8163-0159745A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71775"/>
            <a:ext cx="29146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Who: npm supply-chain attacker</a:t>
            </a:r>
          </a:p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Capability: import-time code execution</a:t>
            </a:r>
          </a:p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Status: 运行时防御范围外，但属于部署加固问题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246D0-C29F-4744-8575-495CCC46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79A"/>
                </a:solidFill>
              </a:defRPr>
            </a:pPr>
            <a:r>
              <a:rPr sz="750" b="0">
                <a:solidFill>
                  <a:srgbClr val="6F879A"/>
                </a:solidFill>
              </a:rPr>
              <a:t>just-bash threat model · 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862CA-EA6B-476A-9E44-B9E4028A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3327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B1D50-3882-420E-B05D-C46AB58E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190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A8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89B35-CA49-4352-A88B-18FC1933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929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B9F2C-50C5-4505-8A67-305A1BDC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953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5F851-DE97-4B64-BC06-CD8806FB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FF"/>
                </a:solidFill>
              </a:defRPr>
            </a:pPr>
            <a:r>
              <a:rPr sz="900" b="1">
                <a:solidFill>
                  <a:srgbClr val="34D3FF"/>
                </a:solidFill>
              </a:rPr>
              <a:t>TRUST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7466B-6B4E-46F8-AA07-2A871135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A"/>
                </a:solidFill>
              </a:defRPr>
            </a:pPr>
            <a:r>
              <a:rPr sz="2850" b="1">
                <a:solidFill>
                  <a:srgbClr val="F4F7FA"/>
                </a:solidFill>
              </a:rPr>
              <a:t>五条边界决定了防御设计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86B8B-117B-43EE-B2AF-6542ACC5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每条边界都有一个对应的失败模式。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66FAA-4A72-41D9-94F3-5682CCC5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1C30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F9D60-BFFC-4BF0-874D-8F55448D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FF"/>
                </a:solidFill>
              </a:defRPr>
            </a:pPr>
            <a:r>
              <a:rPr sz="1350" b="1">
                <a:solidFill>
                  <a:srgbClr val="34D3FF"/>
                </a:solidFill>
              </a:rPr>
              <a:t>TB1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FB7CC-F8B7-4228-9008-0004D200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479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Script → Parser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6FA51-3E13-46A5-8346-07AD0292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574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任意输入不能 crash、hang、泄露信息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98CE8-3474-4E4F-8019-ED5F3254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036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06B0A-1955-4B37-AC62-B06107E8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E3A4"/>
                </a:solidFill>
              </a:defRPr>
            </a:pPr>
            <a:r>
              <a:rPr sz="1350" b="1">
                <a:solidFill>
                  <a:srgbClr val="4FE3A4"/>
                </a:solidFill>
              </a:rPr>
              <a:t>TB2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54F1F-2CA4-4A6E-A351-91669817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908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Interpreter → Filesystem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973CB-96F5-4ABB-B57C-C52C1012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必须限制在 sandbox root，阻断 symlink escape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01440-55F2-41F0-A650-DFA9A37B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1C30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1DA38-8E2B-43E3-990D-1AB97659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B44B"/>
                </a:solidFill>
              </a:defRPr>
            </a:pPr>
            <a:r>
              <a:rPr sz="1350" b="1">
                <a:solidFill>
                  <a:srgbClr val="F6B44B"/>
                </a:solidFill>
              </a:rPr>
              <a:t>TB3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B8973F-866E-4322-8019-C8F51EB0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338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Interpreter → 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11E2F-5D9E-4599-9AB7-1E60ED16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433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默认关闭；开启后必须 URL / method allow-list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32F2E-E527-4E9F-B3F8-AA0B3395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036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5C2A2-7FC2-4A4D-A4E8-41B7F339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6B"/>
                </a:solidFill>
              </a:defRPr>
            </a:pPr>
            <a:r>
              <a:rPr sz="1350" b="1">
                <a:solidFill>
                  <a:srgbClr val="FF6B6B"/>
                </a:solidFill>
              </a:rPr>
              <a:t>TB4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81FA2F-93A9-4A33-9D82-01B5F47E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76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Interpreter → Host Process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055BB-982D-49CB-86DD-D6162DC9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8627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不得访问 env、Node internals、child_process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62835F-711C-4B49-B0E2-B61827B0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1C30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D6836-580F-41BD-9D20-45D45DB0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FF"/>
                </a:solidFill>
              </a:defRPr>
            </a:pPr>
            <a:r>
              <a:rPr sz="1350" b="1">
                <a:solidFill>
                  <a:srgbClr val="34D3FF"/>
                </a:solidFill>
              </a:rPr>
              <a:t>TB5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BB5490-4ACF-4C86-9A1B-9D63EA52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97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Data → JS key 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6BFC82-42E1-4938-B257-1326B136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292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用户数据进入 object key 时防 prototype pollution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234DE-C390-4C01-833E-3151A39C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79A"/>
                </a:solidFill>
              </a:defRPr>
            </a:pPr>
            <a:r>
              <a:rPr sz="750" b="0">
                <a:solidFill>
                  <a:srgbClr val="6F879A"/>
                </a:solidFill>
              </a:rPr>
              <a:t>just-bash threat model · 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A9C6B-A23B-4D0D-8DDA-661BB90E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8448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57C7D-468F-4C61-9B74-B9654E09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190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A8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B0F5A-DF26-465D-8F7E-DDD3472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929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3910E-681A-4F0D-AA84-F0555F2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953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1E4C6-91D4-431A-9BA9-A9D3D489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FF"/>
                </a:solidFill>
              </a:defRPr>
            </a:pPr>
            <a:r>
              <a:rPr sz="900" b="1">
                <a:solidFill>
                  <a:srgbClr val="34D3FF"/>
                </a:solidFill>
              </a:rPr>
              <a:t>ATTACK SURFACE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2DC7F-80AA-4575-9ECF-77FD13C4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A"/>
                </a:solidFill>
              </a:defRPr>
            </a:pPr>
            <a:r>
              <a:rPr sz="2850" b="1">
                <a:solidFill>
                  <a:srgbClr val="F4F7FA"/>
                </a:solidFill>
              </a:rPr>
              <a:t>攻击面不是一个点，而是一张面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5CBD1-9144-4109-9311-B3157745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parser、expansion、FS、network、JS escape、DoS、prototype pollution 都要分别处理。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088C1-3167-442B-B0E9-BFB883A4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EFA7A-F0EF-4AED-AA7D-07299106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A6FE1-99DD-422C-B26D-820B2D9B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FF"/>
                </a:solidFill>
              </a:defRPr>
            </a:pPr>
            <a:r>
              <a:rPr sz="1125" b="1">
                <a:solidFill>
                  <a:srgbClr val="34D3FF"/>
                </a:solidFill>
              </a:rPr>
              <a:t>Parser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43B4B-06B3-41BD-82D8-B7FAA31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8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token bomb / 深层嵌套 / oversized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F3A13-45EC-460C-9381-94DEA073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980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8E536-F54C-4337-8262-D2C9E552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98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EEFC0-0008-45ED-AF3A-7DF360BE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812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B44B"/>
                </a:solidFill>
              </a:defRPr>
            </a:pPr>
            <a:r>
              <a:rPr sz="1125" b="1">
                <a:solidFill>
                  <a:srgbClr val="F6B44B"/>
                </a:solidFill>
              </a:rPr>
              <a:t>Expansion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35BCC-0F93-40D0-AB9E-8F940BF7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2228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brace bomb / glob bomb / string growth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F68ED-F6EC-4CEB-A685-35303419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44DE5-2880-41E4-920E-CB78848E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E3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F0BE0-F38B-4708-83E9-8CF23DC0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E3A4"/>
                </a:solidFill>
              </a:defRPr>
            </a:pPr>
            <a:r>
              <a:rPr sz="1125" b="1">
                <a:solidFill>
                  <a:srgbClr val="4FE3A4"/>
                </a:solidFill>
              </a:rPr>
              <a:t>Filesystem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6DD9F-00FF-4570-AB68-E937C2FA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43200"/>
            <a:ext cx="2228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path traversal / symlink escape / path leak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9BF0B-D91A-47EA-BDE2-72452A35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93F515-488C-4764-A94E-D136D026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27AC7-AB9B-42B0-9426-B40B8773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6B"/>
                </a:solidFill>
              </a:defRPr>
            </a:pPr>
            <a:r>
              <a:rPr sz="1125" b="1">
                <a:solidFill>
                  <a:srgbClr val="FF6B6B"/>
                </a:solidFill>
              </a:rPr>
              <a:t>Network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24CA0-94EB-4131-BAA9-A5C7F2DB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43200"/>
            <a:ext cx="2228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SSRF / redirects / response bomb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D2BF2-4398-49EE-8E94-8C464E85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1CA38-0FFD-45E4-A087-A88AB335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BDFAC-1056-44EA-A293-7C763111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6B"/>
                </a:solidFill>
              </a:defRPr>
            </a:pPr>
            <a:r>
              <a:rPr sz="1125" b="1">
                <a:solidFill>
                  <a:srgbClr val="FF6B6B"/>
                </a:solidFill>
              </a:rPr>
              <a:t>JS Escape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A7917-7B03-431B-8E09-28ED49AA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2228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Function / eval / import() / process.*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6881AE-2477-4D7E-AC05-B9BA47E4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1955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287F0-F0CC-4D4D-8189-A2898E7A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195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821384-29B2-43D3-91CD-6E98CC8F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9100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B44B"/>
                </a:solidFill>
              </a:defRPr>
            </a:pPr>
            <a:r>
              <a:rPr sz="1125" b="1">
                <a:solidFill>
                  <a:srgbClr val="F6B44B"/>
                </a:solidFill>
              </a:rPr>
              <a:t>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BBB1DC-B613-455F-ADD6-7C7BA0D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52950"/>
            <a:ext cx="2228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infinite loop / recursion / regex / FD exhaustion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3BF9F-91BE-4C76-8309-99A042DD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EF1767-946A-4BF2-81A5-CCCA4859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E58B57-7BC1-4158-A2E9-E50D9C66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FF"/>
                </a:solidFill>
              </a:defRPr>
            </a:pPr>
            <a:r>
              <a:rPr sz="1125" b="1">
                <a:solidFill>
                  <a:srgbClr val="34D3FF"/>
                </a:solidFill>
              </a:rPr>
              <a:t>Data Integrity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9CBEFF-57EA-4498-A1B3-138D595D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52950"/>
            <a:ext cx="2228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__proto__ / constructor / unsafe object keys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6FDF71-5E77-4F45-A903-57C88F6B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955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0029A5-5760-4FBA-B8F5-8D00B9D2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95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E3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3587AA-E4A5-4FD3-8629-641BB75A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9100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E3A4"/>
                </a:solidFill>
              </a:defRPr>
            </a:pPr>
            <a:r>
              <a:rPr sz="1125" b="1">
                <a:solidFill>
                  <a:srgbClr val="4FE3A4"/>
                </a:solidFill>
              </a:rPr>
              <a:t>Info Leak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915C81-93FC-49B7-8967-3390797B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52950"/>
            <a:ext cx="2228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process.env / argv / stack paths / timing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5E9AE2-2C24-4D81-8556-F4C75360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79A"/>
                </a:solidFill>
              </a:defRPr>
            </a:pPr>
            <a:r>
              <a:rPr sz="750" b="0">
                <a:solidFill>
                  <a:srgbClr val="6F879A"/>
                </a:solidFill>
              </a:rPr>
              <a:t>just-bash threat model · 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48302F-AFAD-43C3-A1F8-D448E6CA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2591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92118-92E3-4348-9FB7-DD6B938D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190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A8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2BB9E-0A1D-4563-8B30-80AF3DBC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929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4A490-B878-4A8A-B1C5-0F393CB7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953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F0721-BC9B-4DCA-841E-3E4F6B92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FF"/>
                </a:solidFill>
              </a:defRPr>
            </a:pPr>
            <a:r>
              <a:rPr sz="900" b="1">
                <a:solidFill>
                  <a:srgbClr val="34D3FF"/>
                </a:solidFill>
              </a:rPr>
              <a:t>DEFENSE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F7DFB-DFCB-4AB6-BE1B-F743C9B4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A"/>
                </a:solidFill>
              </a:defRPr>
            </a:pPr>
            <a:r>
              <a:rPr sz="2850" b="1">
                <a:solidFill>
                  <a:srgbClr val="F4F7FA"/>
                </a:solidFill>
              </a:rPr>
              <a:t>Primary defense 是架构；secondary defense 是兜底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8A8EB-0D8F-4C51-AF24-A667418B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不要把 monkey-patching 误读成唯一安全边界。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A5DF9-1825-4409-8FAC-49872A76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857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FE3A4">
              <a:alpha val="14118"/>
            </a:srgbClr>
          </a:solidFill>
          <a:ln xmlns:a="http://schemas.openxmlformats.org/drawingml/2006/main" w="12383">
            <a:solidFill>
              <a:srgbClr val="4FE3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F8654-70B2-42F8-B9FC-E603F715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28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E3A4"/>
                </a:solidFill>
              </a:defRPr>
            </a:pPr>
            <a:r>
              <a:rPr sz="1275" b="1">
                <a:solidFill>
                  <a:srgbClr val="4FE3A4"/>
                </a:solidFill>
              </a:rPr>
              <a:t>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25C1F-A1E1-4FC1-B300-2A13CE81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没有 child_process 代码路径；命令只跑注册的 JS 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85F93-60D4-4D75-8A02-FEF8EFA3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14625"/>
            <a:ext cx="811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4D3FF">
              <a:alpha val="14118"/>
            </a:srgbClr>
          </a:solidFill>
          <a:ln xmlns:a="http://schemas.openxmlformats.org/drawingml/2006/main" w="12383">
            <a:solidFill>
              <a:srgbClr val="34D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7ADEC-1128-43BB-8E4B-D2CD7137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479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D3FF"/>
                </a:solidFill>
              </a:defRPr>
            </a:pPr>
            <a:r>
              <a:rPr sz="1275" b="1">
                <a:solidFill>
                  <a:srgbClr val="34D3FF"/>
                </a:solidFill>
              </a:rPr>
              <a:t>Virtual FS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45D75-D12C-4CCE-A081-F6856D27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575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InMemoryFs / OverlayFs；symlink 默认 deny；写入可停留内存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ABF68-C667-4EA3-9E82-7FA5A1F4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33750"/>
            <a:ext cx="7658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B44B">
              <a:alpha val="14118"/>
            </a:srgbClr>
          </a:solidFill>
          <a:ln xmlns:a="http://schemas.openxmlformats.org/drawingml/2006/main" w="12383">
            <a:solidFill>
              <a:srgbClr val="F6B4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8021B-2BC5-4E4A-BCCA-A8682B22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4671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B44B"/>
                </a:solidFill>
              </a:defRPr>
            </a:pPr>
            <a:r>
              <a:rPr sz="1275" b="1">
                <a:solidFill>
                  <a:srgbClr val="F6B44B"/>
                </a:solidFill>
              </a:rPr>
              <a:t>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F3607-3A18-4CE6-B51C-E934F89B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76625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默认没有 curl；开启后 URL prefix + method allow-list + redirect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0118B-1728-4098-A55E-A91AEC46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52875"/>
            <a:ext cx="7200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6B6B">
              <a:alpha val="14118"/>
            </a:srgbClr>
          </a:solidFill>
          <a:ln xmlns:a="http://schemas.openxmlformats.org/drawingml/2006/main" w="12383">
            <a:solidFill>
              <a:srgbClr val="FF6B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23FB2-C38B-4E68-9B34-2067F483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862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</a:defRPr>
            </a:pPr>
            <a:r>
              <a:rPr sz="1275" b="1">
                <a:solidFill>
                  <a:srgbClr val="FF6B6B"/>
                </a:solidFill>
              </a:rPr>
              <a:t>Execution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86CD9-8D7D-499D-844A-F635822D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loop / command / call depth / string / glob / FD 上限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3C7C9-A33E-474D-9F68-28A2DA5E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72000"/>
            <a:ext cx="6743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4D3FF">
              <a:alpha val="14118"/>
            </a:srgbClr>
          </a:solidFill>
          <a:ln xmlns:a="http://schemas.openxmlformats.org/drawingml/2006/main" w="12383">
            <a:solidFill>
              <a:srgbClr val="34D3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B6461-230A-4A0A-B478-E5030914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705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D3FF"/>
                </a:solidFill>
              </a:defRPr>
            </a:pPr>
            <a:r>
              <a:rPr sz="1275" b="1">
                <a:solidFill>
                  <a:srgbClr val="34D3FF"/>
                </a:solidFill>
              </a:rPr>
              <a:t>Data Guards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6BB75-4317-4CDE-ACE0-6842A9BC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14875"/>
            <a:ext cx="3505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Map、null-prototype objects、safeGet/safeSet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7EC5CF-DC23-43A4-A1B8-85327940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91125"/>
            <a:ext cx="628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FE3A4">
              <a:alpha val="14118"/>
            </a:srgbClr>
          </a:solidFill>
          <a:ln xmlns:a="http://schemas.openxmlformats.org/drawingml/2006/main" w="12383">
            <a:solidFill>
              <a:srgbClr val="4FE3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E15D05-61C2-4BE6-99A7-C9B36537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3244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E3A4"/>
                </a:solidFill>
              </a:defRPr>
            </a:pPr>
            <a:r>
              <a:rPr sz="1275" b="1">
                <a:solidFill>
                  <a:srgbClr val="4FE3A4"/>
                </a:solidFill>
              </a:rPr>
              <a:t>Defense-in-Depth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1955B-9147-4C55-AC93-DE1A11ED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340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Function、eval、process.*、Module._resolveFilename 等二级阻断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AE4E3-1D07-425D-A87F-0D1E5D14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FE3A4"/>
                </a:solidFill>
              </a:defRPr>
            </a:pPr>
            <a:r>
              <a:rPr sz="1050" b="1">
                <a:solidFill>
                  <a:srgbClr val="4FE3A4"/>
                </a:solidFill>
              </a:rPr>
              <a:t>Primary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D35462-47E2-40B7-99FC-CE86C6DF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4D3FF"/>
                </a:solidFill>
              </a:defRPr>
            </a:pPr>
            <a:r>
              <a:rPr sz="1050" b="1">
                <a:solidFill>
                  <a:srgbClr val="34D3FF"/>
                </a:solidFill>
              </a:rPr>
              <a:t>Secondary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B1880E-FD82-4D0B-95AB-3D4AF59F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79A"/>
                </a:solidFill>
              </a:defRPr>
            </a:pPr>
            <a:r>
              <a:rPr sz="750" b="0">
                <a:solidFill>
                  <a:srgbClr val="6F879A"/>
                </a:solidFill>
              </a:rPr>
              <a:t>just-bash threat model · 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39F2DC-5949-43FF-A0DC-1BDCC8B6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3180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DE161-FEFB-47ED-9EB4-03B40FD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190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A8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0117F-2964-4BDD-B2F0-5054B1A3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929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AF803-EA52-48EB-A180-BAE1CB2B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953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2CE0B-C2B6-4E0E-942F-F09865EF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FF"/>
                </a:solidFill>
              </a:defRPr>
            </a:pPr>
            <a:r>
              <a:rPr sz="900" b="1">
                <a:solidFill>
                  <a:srgbClr val="34D3FF"/>
                </a:solidFill>
              </a:rPr>
              <a:t>SCENARIOS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88F4E-7C82-4950-BBD9-6C1EF936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A"/>
                </a:solidFill>
              </a:defRPr>
            </a:pPr>
            <a:r>
              <a:rPr sz="2850" b="1">
                <a:solidFill>
                  <a:srgbClr val="F4F7FA"/>
                </a:solidFill>
              </a:rPr>
              <a:t>威胁模型最后要能回答：这个攻击怎么结束？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6D8EC-5B0A-4B20-BB1E-3949C04D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把安全讨论落到 verdict，而不是抽象形容词。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D5B70-B3A3-4EB5-B236-55BB2850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1038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0A93E-39B3-43E3-A35E-37B09C41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FF"/>
                </a:solidFill>
              </a:defRPr>
            </a:pPr>
            <a:r>
              <a:rPr sz="1125" b="1">
                <a:solidFill>
                  <a:srgbClr val="34D3FF"/>
                </a:solidFill>
              </a:rPr>
              <a:t>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81A53-CBBB-44FB-8F27-7A97F0D3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FF"/>
                </a:solidFill>
              </a:defRPr>
            </a:pPr>
            <a:r>
              <a:rPr sz="1125" b="1">
                <a:solidFill>
                  <a:srgbClr val="34D3FF"/>
                </a:solidFill>
              </a:rPr>
              <a:t>Defense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1DC37-D0AA-43F2-B862-398B9E83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D3FF"/>
                </a:solidFill>
              </a:defRPr>
            </a:pPr>
            <a:r>
              <a:rPr sz="1125" b="1">
                <a:solidFill>
                  <a:srgbClr val="34D3FF"/>
                </a:solidFill>
              </a:rPr>
              <a:t>Verdict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0313B-8604-417D-9B0A-4BA6EFED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998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BCE9D-2F6A-46B3-AF54-5E228967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cat /etc/passwd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0B72A-53D0-4888-819F-FEF8A68A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F"/>
                </a:solidFill>
              </a:defRPr>
            </a:pPr>
            <a:r>
              <a:rPr sz="1125" b="0">
                <a:solidFill>
                  <a:srgbClr val="AFC1CF"/>
                </a:solidFill>
              </a:rPr>
              <a:t>OverlayFs / root containment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085E9-56B5-4CF1-8DDC-71124CA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14625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E3A4">
              <a:alpha val="14902"/>
            </a:srgbClr>
          </a:solidFill>
          <a:ln xmlns:a="http://schemas.openxmlformats.org/drawingml/2006/main" w="11430">
            <a:solidFill>
              <a:srgbClr val="4FE3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4E831-833C-4707-A4A6-93812A5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E3A4"/>
                </a:solidFill>
              </a:defRPr>
            </a:pPr>
            <a:r>
              <a:rPr sz="900" b="1">
                <a:solidFill>
                  <a:srgbClr val="4FE3A4"/>
                </a:solidFill>
              </a:rPr>
              <a:t>BLOCKED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BF382-8BAF-4F7C-A2F7-A0FF861A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52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ln -s /etc/passwd 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D77E5-4856-44CF-96AD-0CBFAE21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527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F"/>
                </a:solidFill>
              </a:defRPr>
            </a:pPr>
            <a:r>
              <a:rPr sz="1125" b="0">
                <a:solidFill>
                  <a:srgbClr val="AFC1CF"/>
                </a:solidFill>
              </a:rPr>
              <a:t>allowSymlinks=false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5E752-472B-4E31-9881-A50E52B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861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E3A4">
              <a:alpha val="14902"/>
            </a:srgbClr>
          </a:solidFill>
          <a:ln xmlns:a="http://schemas.openxmlformats.org/drawingml/2006/main" w="11430">
            <a:solidFill>
              <a:srgbClr val="4FE3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EFEA3-A532-4AD8-A529-6A7162D2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527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E3A4"/>
                </a:solidFill>
              </a:defRPr>
            </a:pPr>
            <a:r>
              <a:rPr sz="900" b="1">
                <a:solidFill>
                  <a:srgbClr val="4FE3A4"/>
                </a:solidFill>
              </a:rPr>
              <a:t>BLOCKED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71BB0-7AFE-4E8A-A561-45FFCE7A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998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C2498-8EBF-410F-9A1B-F6D6B148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while true; do :; done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A2291-FDA4-443E-B276-000213FB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F"/>
                </a:solidFill>
              </a:defRPr>
            </a:pPr>
            <a:r>
              <a:rPr sz="1125" b="0">
                <a:solidFill>
                  <a:srgbClr val="AFC1CF"/>
                </a:solidFill>
              </a:rPr>
              <a:t>maxLoopIterations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6CAAC-CA3D-4B6C-A38E-538ADDD2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57575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E3A4">
              <a:alpha val="14902"/>
            </a:srgbClr>
          </a:solidFill>
          <a:ln xmlns:a="http://schemas.openxmlformats.org/drawingml/2006/main" w="11430">
            <a:solidFill>
              <a:srgbClr val="4FE3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07EDD-099A-4454-A373-E699CB64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E3A4"/>
                </a:solidFill>
              </a:defRPr>
            </a:pPr>
            <a:r>
              <a:rPr sz="900" b="1">
                <a:solidFill>
                  <a:srgbClr val="4FE3A4"/>
                </a:solidFill>
              </a:rPr>
              <a:t>BLOCKED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8FE4C5-0DF4-4B84-BCDA-49C332FC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957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curl evil.com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FDAE57-A0C0-44DE-A346-3C10B700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957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F"/>
                </a:solidFill>
              </a:defRPr>
            </a:pPr>
            <a:r>
              <a:rPr sz="1125" b="0">
                <a:solidFill>
                  <a:srgbClr val="AFC1CF"/>
                </a:solidFill>
              </a:rPr>
              <a:t>network off / allow-list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E385E8-6A60-46B4-9D6F-57E2A58D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290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E3A4">
              <a:alpha val="14902"/>
            </a:srgbClr>
          </a:solidFill>
          <a:ln xmlns:a="http://schemas.openxmlformats.org/drawingml/2006/main" w="11430">
            <a:solidFill>
              <a:srgbClr val="4FE3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1C0A3C-27BB-467A-A630-4B6AE712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957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E3A4"/>
                </a:solidFill>
              </a:defRPr>
            </a:pPr>
            <a:r>
              <a:rPr sz="900" b="1">
                <a:solidFill>
                  <a:srgbClr val="4FE3A4"/>
                </a:solidFill>
              </a:rPr>
              <a:t>BLOCKED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C132BC-4FEB-4AB8-8C67-06EB63AB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998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BE6FF0-DC67-4949-AFCE-4B1F49AB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arr[__proto__]=evil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C6FFF3-36B2-4CE5-8987-615CB4C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F"/>
                </a:solidFill>
              </a:defRPr>
            </a:pPr>
            <a:r>
              <a:rPr sz="1125" b="0">
                <a:solidFill>
                  <a:srgbClr val="AFC1CF"/>
                </a:solidFill>
              </a:rPr>
              <a:t>Map / null-prototype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5367A1-9E31-40FE-9442-62AF8793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00525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E3A4">
              <a:alpha val="14902"/>
            </a:srgbClr>
          </a:solidFill>
          <a:ln xmlns:a="http://schemas.openxmlformats.org/drawingml/2006/main" w="11430">
            <a:solidFill>
              <a:srgbClr val="4FE3A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A2B643-50A4-4A64-8629-2B17F30C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672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E3A4"/>
                </a:solidFill>
              </a:defRPr>
            </a:pPr>
            <a:r>
              <a:rPr sz="900" b="1">
                <a:solidFill>
                  <a:srgbClr val="4FE3A4"/>
                </a:solidFill>
              </a:rPr>
              <a:t>BLOCKED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27EE52-5E34-4130-B83F-49F22B12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386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python escape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8F1E19-DF0E-40C9-B91B-A8C5554D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38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F"/>
                </a:solidFill>
              </a:defRPr>
            </a:pPr>
            <a:r>
              <a:rPr sz="1125" b="0">
                <a:solidFill>
                  <a:srgbClr val="AFC1CF"/>
                </a:solidFill>
              </a:rPr>
              <a:t>opt-in WASM + worker + timeout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8C5940-8212-45E3-BC36-80D9C17C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6B44B">
              <a:alpha val="14902"/>
            </a:srgbClr>
          </a:solidFill>
          <a:ln xmlns:a="http://schemas.openxmlformats.org/drawingml/2006/main" w="11430">
            <a:solidFill>
              <a:srgbClr val="F6B4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12DD0C-2E58-4B32-A89A-F3F0E0B9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386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44B"/>
                </a:solidFill>
              </a:defRPr>
            </a:pPr>
            <a:r>
              <a:rPr sz="900" b="1">
                <a:solidFill>
                  <a:srgbClr val="F6B44B"/>
                </a:solidFill>
              </a:rPr>
              <a:t>RESIDUAL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61221F-C54D-4D7D-9CEC-6E4CE275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79A"/>
                </a:solidFill>
              </a:defRPr>
            </a:pPr>
            <a:r>
              <a:rPr sz="750" b="0">
                <a:solidFill>
                  <a:srgbClr val="6F879A"/>
                </a:solidFill>
              </a:rPr>
              <a:t>just-bash threat model · 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C19E0F-54E7-4B7D-BAA8-2BD3AEBF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2343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90173-ED67-4022-8ACA-570CECC1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190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A8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C9A51-9D2C-4CD8-ABBA-88CF7633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929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C3403-FCC6-43E6-8D56-759CF827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953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9AB8D-8569-4B5F-94B8-28AE260B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FF"/>
                </a:solidFill>
              </a:defRPr>
            </a:pPr>
            <a:r>
              <a:rPr sz="900" b="1">
                <a:solidFill>
                  <a:srgbClr val="34D3FF"/>
                </a:solidFill>
              </a:rPr>
              <a:t>KNOWN GAPS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CBE68-6803-4893-BDBC-620A0A1A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A"/>
                </a:solidFill>
              </a:defRPr>
            </a:pPr>
            <a:r>
              <a:rPr sz="2850" b="1">
                <a:solidFill>
                  <a:srgbClr val="F4F7FA"/>
                </a:solidFill>
              </a:rPr>
              <a:t>残余风险被明确写出来，反而是成熟信号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27305-6539-4823-AFA1-6A040E81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好的 threat model 不承诺绝对安全；它标注 tradeoffs 和部署条件。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1C160-31BC-4AC3-8328-D00DFC3B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3337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42518-B3E9-4A54-8B3C-4A5A836B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71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3D97B-C025-4924-8519-9643D02D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B44B"/>
                </a:solidFill>
              </a:defRPr>
            </a:pPr>
            <a:r>
              <a:rPr sz="1125" b="1">
                <a:solidFill>
                  <a:srgbClr val="F6B44B"/>
                </a:solidFill>
              </a:rPr>
              <a:t>Node version 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F49BB-F361-4898-B3F3-D43502D8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dynamic import() 依赖 Node.js 20.6+ 的 ESM loader hook；更旧版本存在残余风险。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23C3F-6A4C-40EC-B55A-C5727C3C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1D626-A394-4007-97B0-F4AE3A52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571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4AE23-3C7B-4F94-A48A-33070709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622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FF"/>
                </a:solidFill>
              </a:defRPr>
            </a:pPr>
            <a:r>
              <a:rPr sz="1125" b="1">
                <a:solidFill>
                  <a:srgbClr val="34D3FF"/>
                </a:solidFill>
              </a:rPr>
              <a:t>Secondary layer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B6E2E-1E23-4631-A8B1-3F9EF2FC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24150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pre-captured references、globalThis reassignment 说明 monkey-patching 不是 primary boundary。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4E967-8923-4278-853D-B5608B52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3337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F4F69-1018-47B9-BF10-5578F27B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571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2942A-A867-4077-B5CA-5D4F3B6A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6B"/>
                </a:solidFill>
              </a:defRPr>
            </a:pPr>
            <a:r>
              <a:rPr sz="1125" b="1">
                <a:solidFill>
                  <a:srgbClr val="FF6B6B"/>
                </a:solidFill>
              </a:rPr>
              <a:t>Opt-in Python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78327-1538-44A2-8D01-81AEA61A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A"/>
                </a:solidFill>
              </a:defRPr>
            </a:pPr>
            <a:r>
              <a:rPr sz="1275" b="0">
                <a:solidFill>
                  <a:srgbClr val="F4F7FA"/>
                </a:solidFill>
              </a:rPr>
              <a:t>Python 通过 CPython WASM 隔离，但开启后风险评级为 MEDIUM，仍需配置 timeout 和边界。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4BD0C-75D7-4609-AB93-7928C040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5295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DDBF0-0CCC-41E2-ABC7-EEC5D02B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529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E3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869BA6-D5E0-4F2D-9E20-82BA9A6E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244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E3A4"/>
                </a:solidFill>
              </a:defRPr>
            </a:pPr>
            <a:r>
              <a:rPr sz="1125" b="1">
                <a:solidFill>
                  <a:srgbClr val="4FE3A4"/>
                </a:solidFill>
              </a:rPr>
              <a:t>Output contexts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87D31-FF3C-45CE-A7F2-DE5ABD70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86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A"/>
                </a:solidFill>
              </a:defRPr>
            </a:pPr>
            <a:r>
              <a:rPr sz="1200" b="0">
                <a:solidFill>
                  <a:srgbClr val="F4F7FA"/>
                </a:solidFill>
              </a:rPr>
              <a:t>如果把 sandbox 输出渲染到网页，还要考虑 XSS/CSP。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1A44D-8906-4F74-AB43-017B7722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5295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27476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F6834-F1FC-4B7E-9AC8-6A1CC6A3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529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E3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F24F0-1DB8-4F60-90CE-97FC6F03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244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E3A4"/>
                </a:solidFill>
              </a:defRPr>
            </a:pPr>
            <a:r>
              <a:rPr sz="1125" b="1">
                <a:solidFill>
                  <a:srgbClr val="4FE3A4"/>
                </a:solidFill>
              </a:rPr>
              <a:t>Fuzzing scope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F259D8-2EF0-4F84-9BFE-6F4765A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86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A"/>
                </a:solidFill>
              </a:defRPr>
            </a:pPr>
            <a:r>
              <a:rPr sz="1200" b="0">
                <a:solidFill>
                  <a:srgbClr val="F4F7FA"/>
                </a:solidFill>
              </a:rPr>
              <a:t>trap、job control、复杂 heredoc、Unicode edge cases 仍是后续加固点。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5B343E-60A1-4782-A1C5-C1AC6462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79A"/>
                </a:solidFill>
              </a:defRPr>
            </a:pPr>
            <a:r>
              <a:rPr sz="750" b="0">
                <a:solidFill>
                  <a:srgbClr val="6F879A"/>
                </a:solidFill>
              </a:rPr>
              <a:t>just-bash threat model · 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D5A59-18A7-4FD3-9256-D967D8A3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33555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2C5A2-5EAC-46EA-B261-92FC12C2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190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A8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ACCB6-A682-4A47-8CF6-1768F0EC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929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726F8-267C-4DB7-AAC6-367901D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953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CA741-F706-41CC-9FD2-DAA9EDD9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FF"/>
                </a:solidFill>
              </a:defRPr>
            </a:pPr>
            <a:r>
              <a:rPr sz="900" b="1">
                <a:solidFill>
                  <a:srgbClr val="34D3FF"/>
                </a:solidFill>
              </a:rPr>
              <a:t>OPERATING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0FC52-88B5-429C-9120-310AEA32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A"/>
                </a:solidFill>
              </a:defRPr>
            </a:pPr>
            <a:r>
              <a:rPr sz="2850" b="1">
                <a:solidFill>
                  <a:srgbClr val="F4F7FA"/>
                </a:solidFill>
              </a:rPr>
              <a:t>如果你要把 just-bash 接进 agent，按最小权限启用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02F81-17D1-4C2E-A6EB-0432FF19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F"/>
                </a:solidFill>
              </a:defRPr>
            </a:pPr>
            <a:r>
              <a:rPr sz="1350" b="0">
                <a:solidFill>
                  <a:srgbClr val="AFC1CF"/>
                </a:solidFill>
              </a:rPr>
              <a:t>默认安全姿态比功能完整性更重要。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DFF88-01E3-4599-B2FD-B2B25CFE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98E41-428C-4FB1-B7CF-B92A55ED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</a:defRPr>
            </a:pPr>
            <a:r>
              <a:rPr sz="105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D8009-0FB1-44CC-909B-CFA4976F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先用 InMemoryFs 或 OverlayFs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24DDD-E196-43E8-B00E-A531F89F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CF"/>
                </a:solidFill>
              </a:defRPr>
            </a:pPr>
            <a:r>
              <a:rPr sz="1275" b="0">
                <a:solidFill>
                  <a:srgbClr val="AFC1CF"/>
                </a:solidFill>
              </a:rPr>
              <a:t>让写入可丢弃；需要真实写入时只指向 workspace sandbox。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73A9E-75D2-4C88-A8A0-2790BA3D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044D2-7F78-46BA-A0AC-C094F949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</a:defRPr>
            </a:pPr>
            <a:r>
              <a:rPr sz="105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7755D-3165-4475-9A9B-3EF7D48D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网络默认关闭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25081-F0F6-4B7A-80E6-28D48766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CF"/>
                </a:solidFill>
              </a:defRPr>
            </a:pPr>
            <a:r>
              <a:rPr sz="1275" b="0">
                <a:solidFill>
                  <a:srgbClr val="AFC1CF"/>
                </a:solidFill>
              </a:rPr>
              <a:t>只给必要 URL prefix 和 HTTP methods；不要轻易 full internet。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73A32-DE1E-408F-8722-2C076F5E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6E8CD-07C6-460E-A0CD-F5500687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</a:defRPr>
            </a:pPr>
            <a:r>
              <a:rPr sz="105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2BF03-B82C-4E61-982D-A8DDDF97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Python / JS opt-in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2C157-4B0D-4C1B-BD74-8D77E28D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CF"/>
                </a:solidFill>
              </a:defRPr>
            </a:pPr>
            <a:r>
              <a:rPr sz="1275" b="0">
                <a:solidFill>
                  <a:srgbClr val="AFC1CF"/>
                </a:solidFill>
              </a:rPr>
              <a:t>只有任务需要时打开；配置 timeout、内存和输出处理。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7DA73-13A6-4D73-8410-F5FF9424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3BB5E-A54E-4642-8340-EAD757E6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</a:defRPr>
            </a:pPr>
            <a:r>
              <a:rPr sz="105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357F6-4094-4599-A007-8CD52AAA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customCommands 当 trusted host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A8FB3-D0D3-4E8F-848E-33622FEF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52950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CF"/>
                </a:solidFill>
              </a:defRPr>
            </a:pPr>
            <a:r>
              <a:rPr sz="1275" b="0">
                <a:solidFill>
                  <a:srgbClr val="AFC1CF"/>
                </a:solidFill>
              </a:rPr>
              <a:t>自定义命令、fetch、transform plugin 可以绕过 sandbox，必须像生产代码一样审。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19022A-EFF8-40BB-A330-B8B4AEEA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BC0ACC-4DF7-4E1E-ABFB-04EDF55E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</a:defRPr>
            </a:pPr>
            <a:r>
              <a:rPr sz="105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076222-5EA5-42C5-B8E9-1A05BBC3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需要任意二进制时换 VM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9B3DF-8D44-4E62-945B-656CEF73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76850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CF"/>
                </a:solidFill>
              </a:defRPr>
            </a:pPr>
            <a:r>
              <a:rPr sz="1275" b="0">
                <a:solidFill>
                  <a:srgbClr val="AFC1CF"/>
                </a:solidFill>
              </a:rPr>
              <a:t>README 明确建议：需要 full VM / arbitrary binary execution 时用 Vercel Sandbox。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7240E-4FB9-4142-923E-7788EBC0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79A"/>
                </a:solidFill>
              </a:defRPr>
            </a:pPr>
            <a:r>
              <a:rPr sz="750" b="0">
                <a:solidFill>
                  <a:srgbClr val="6F879A"/>
                </a:solidFill>
              </a:rPr>
              <a:t>just-bash threat model · 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A7440E-F246-4366-9051-3FB56C20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63124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2030A-1BEB-42BB-8C20-CB7C1C605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48765-7F3B-4176-88EE-EF292E23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19075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A8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A2EC0-FBB3-4612-9832-50420B03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929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BBB85-F057-4B33-AE54-A54229E8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953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0B2F3-DDA0-4AFE-9438-73AA96D3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FF"/>
                </a:solidFill>
              </a:defRPr>
            </a:pPr>
            <a:r>
              <a:rPr sz="1350" b="1">
                <a:solidFill>
                  <a:srgbClr val="34D3FF"/>
                </a:solidFill>
              </a:rPr>
              <a:t>Takeaway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C0AEE-F31D-4C41-9EF0-581A750F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23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A"/>
                </a:solidFill>
              </a:defRPr>
            </a:pPr>
            <a:r>
              <a:rPr sz="3300" b="1">
                <a:solidFill>
                  <a:srgbClr val="F4F7FA"/>
                </a:solidFill>
              </a:rPr>
              <a:t>just-bash 不是一个 VM，</a:t>
            </a:r>
          </a:p>
          <a:p xmlns:a="http://schemas.openxmlformats.org/drawingml/2006/main">
            <a:pPr algn="l">
              <a:defRPr sz="3300" b="1">
                <a:solidFill>
                  <a:srgbClr val="F4F7FA"/>
                </a:solidFill>
              </a:defRPr>
            </a:pPr>
            <a:r>
              <a:rPr sz="3300" b="1">
                <a:solidFill>
                  <a:srgbClr val="F4F7FA"/>
                </a:solidFill>
              </a:rPr>
              <a:t>而是一个可校准的 shell harness。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7C144-E3DE-4695-A7C1-64082E4D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666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1CF"/>
                </a:solidFill>
              </a:defRPr>
            </a:pPr>
            <a:r>
              <a:rPr sz="1575" b="0">
                <a:solidFill>
                  <a:srgbClr val="AFC1CF"/>
                </a:solidFill>
              </a:rPr>
              <a:t>它把 agent 熟悉的 bash/filesystem 接口，包进一组明确的边界：虚拟文件系统、命令注册、网络 allow-list、执行上限、数据结构防护和二级逃逸阻断。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2C7A4-9A12-4BFF-ACD2-0BA46552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2857500" cy="3143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14288">
            <a:solidFill>
              <a:srgbClr val="34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84A6B-72C0-4EEB-B1FF-CCBF11B6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E3A4"/>
                </a:solidFill>
              </a:defRPr>
            </a:pPr>
            <a:r>
              <a:rPr sz="2100" b="1">
                <a:solidFill>
                  <a:srgbClr val="4FE3A4"/>
                </a:solidFill>
              </a:rPr>
              <a:t>Useful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79780-75D0-4FD0-88CF-F0CD05E8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145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FC1CF"/>
                </a:solidFill>
              </a:defRPr>
            </a:pPr>
            <a:r>
              <a:rPr sz="1275" b="0">
                <a:solidFill>
                  <a:srgbClr val="AFC1CF"/>
                </a:solidFill>
              </a:rPr>
              <a:t>熟悉的 bash action 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0D273-C1FC-4114-98F8-5E0F3E06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051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B44B"/>
                </a:solidFill>
              </a:defRPr>
            </a:pPr>
            <a:r>
              <a:rPr sz="2100" b="1">
                <a:solidFill>
                  <a:srgbClr val="F6B44B"/>
                </a:solidFill>
              </a:rPr>
              <a:t>Bounded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E71CF-01D0-4FCC-99A9-5B284FE9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670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FC1CF"/>
                </a:solidFill>
              </a:defRPr>
            </a:pPr>
            <a:r>
              <a:rPr sz="1275" b="0">
                <a:solidFill>
                  <a:srgbClr val="AFC1CF"/>
                </a:solidFill>
              </a:rPr>
              <a:t>默认关闭危险能力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E4AD3-DEAA-43A6-A155-17C5D444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4D3FF"/>
                </a:solidFill>
              </a:defRPr>
            </a:pPr>
            <a:r>
              <a:rPr sz="2100" b="1">
                <a:solidFill>
                  <a:srgbClr val="34D3FF"/>
                </a:solidFill>
              </a:rPr>
              <a:t>Observable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78D47-1C2D-4A74-8FB4-10AF74FE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195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FC1CF"/>
                </a:solidFill>
              </a:defRPr>
            </a:pPr>
            <a:r>
              <a:rPr sz="1275" b="0">
                <a:solidFill>
                  <a:srgbClr val="AFC1CF"/>
                </a:solidFill>
              </a:rPr>
              <a:t>stdout / stderr / exit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BCE7B-7AF5-40FE-902B-903D1610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79A"/>
                </a:solidFill>
              </a:defRPr>
            </a:pPr>
            <a:r>
              <a:rPr sz="750" b="0">
                <a:solidFill>
                  <a:srgbClr val="6F879A"/>
                </a:solidFill>
              </a:rPr>
              <a:t>just-bash threat model · 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E9B19-84D8-44FF-ACB3-30EAD43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7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5223666"/>
      </p:ext>
    </p:extLst>
  </p:cSld>
</p:sld>
</file>

<file path=ppt/theme/theme1.xml><?xml version="1.0" encoding="utf-8"?>
<a:theme xmlns:a="http://schemas.openxmlformats.org/drawingml/2006/main" name="just-bash dark">
  <a:themeElements>
    <a:clrScheme name="just-bash dark">
      <a:accent1>
        <a:srgbClr val="34D3FF"/>
      </a:accent1>
      <a:accent2>
        <a:srgbClr val="F6B44B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ust-bash 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2026-04-23T12:09:08.1020000Z</dcterms:created>
  <dcterms:modified xsi:type="dcterms:W3CDTF">2026-04-23T12:09:08.1030000Z</dcterms:modified>
</coreProperties>
</file>